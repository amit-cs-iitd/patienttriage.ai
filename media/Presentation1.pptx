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98"/>
  </p:normalViewPr>
  <p:slideViewPr>
    <p:cSldViewPr snapToGrid="0">
      <p:cViewPr varScale="1">
        <p:scale>
          <a:sx n="120" d="100"/>
          <a:sy n="12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9487A7-22B4-476A-9810-F1DE066BDE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AA69D4-9F84-40B4-AB90-CD0BF87264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Increased ED Throughput:</a:t>
          </a:r>
          <a:r>
            <a:rPr lang="en-IN" dirty="0"/>
            <a:t> By moving away from a single priority queue and parallelizing diagnostic workflows, hospitals can decrease the average Length of Stay (LOS) in the ED, allowing them to treat a higher daily volume of patients. </a:t>
          </a:r>
          <a:endParaRPr lang="en-US" dirty="0"/>
        </a:p>
      </dgm:t>
    </dgm:pt>
    <dgm:pt modelId="{3C5B48BC-4FD7-4666-A640-5D0E11D71459}" type="parTrans" cxnId="{5015F27D-64B2-48E1-8D8A-A67762FAFE02}">
      <dgm:prSet/>
      <dgm:spPr/>
      <dgm:t>
        <a:bodyPr/>
        <a:lstStyle/>
        <a:p>
          <a:endParaRPr lang="en-US"/>
        </a:p>
      </dgm:t>
    </dgm:pt>
    <dgm:pt modelId="{55C8FC89-BD0E-4921-B67E-E1D9F756DC1E}" type="sibTrans" cxnId="{5015F27D-64B2-48E1-8D8A-A67762FAFE0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37134C-320E-47FB-ADD6-39897F35D04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Risk Mitigation &amp; Liability Reduction:</a:t>
          </a:r>
          <a:r>
            <a:rPr lang="en-IN" dirty="0"/>
            <a:t> Missing a critical case carries massive asymmetry in healthcare costs (malpractice suits, intensive care escalation). By mathematically preventing silent de-prioritization and enforcing an immutable audit trail for manual overrides, the hospital significantly reduces its liability footprint. </a:t>
          </a:r>
          <a:endParaRPr lang="en-US" dirty="0"/>
        </a:p>
      </dgm:t>
    </dgm:pt>
    <dgm:pt modelId="{51BF2265-240C-424E-AAA6-26290C9F0DF7}" type="parTrans" cxnId="{51589E01-E3E2-4BFE-8272-303D1C18DF5D}">
      <dgm:prSet/>
      <dgm:spPr/>
      <dgm:t>
        <a:bodyPr/>
        <a:lstStyle/>
        <a:p>
          <a:endParaRPr lang="en-US"/>
        </a:p>
      </dgm:t>
    </dgm:pt>
    <dgm:pt modelId="{FF29BE1D-451E-4F2B-8A61-67478E85C4FA}" type="sibTrans" cxnId="{51589E01-E3E2-4BFE-8272-303D1C18DF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868A4B-21FB-4AE0-868A-003FDCB1B51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Resource Optimization:</a:t>
          </a:r>
          <a:r>
            <a:rPr lang="en-IN" dirty="0"/>
            <a:t> Efficiently routing patients prevents high-acuity beds from being occupied by low-acuity patients awaiting basic lab work.</a:t>
          </a:r>
          <a:endParaRPr lang="en-US" dirty="0"/>
        </a:p>
      </dgm:t>
    </dgm:pt>
    <dgm:pt modelId="{76157F74-7D8F-470A-945E-46BA1C842D84}" type="parTrans" cxnId="{7FFE9D2F-6DE7-4B1C-A44B-FAD41A82B8C0}">
      <dgm:prSet/>
      <dgm:spPr/>
      <dgm:t>
        <a:bodyPr/>
        <a:lstStyle/>
        <a:p>
          <a:endParaRPr lang="en-US"/>
        </a:p>
      </dgm:t>
    </dgm:pt>
    <dgm:pt modelId="{0754EB5E-534E-4466-88CD-E645E80196C2}" type="sibTrans" cxnId="{7FFE9D2F-6DE7-4B1C-A44B-FAD41A82B8C0}">
      <dgm:prSet/>
      <dgm:spPr/>
      <dgm:t>
        <a:bodyPr/>
        <a:lstStyle/>
        <a:p>
          <a:endParaRPr lang="en-US"/>
        </a:p>
      </dgm:t>
    </dgm:pt>
    <dgm:pt modelId="{A41117E1-2337-4B30-80FD-8BABB397BD9F}" type="pres">
      <dgm:prSet presAssocID="{859487A7-22B4-476A-9810-F1DE066BDECE}" presName="root" presStyleCnt="0">
        <dgm:presLayoutVars>
          <dgm:dir/>
          <dgm:resizeHandles val="exact"/>
        </dgm:presLayoutVars>
      </dgm:prSet>
      <dgm:spPr/>
    </dgm:pt>
    <dgm:pt modelId="{DC2006F2-18C6-4A8D-87C3-30C8D94D4208}" type="pres">
      <dgm:prSet presAssocID="{E5AA69D4-9F84-40B4-AB90-CD0BF87264C3}" presName="compNode" presStyleCnt="0"/>
      <dgm:spPr/>
    </dgm:pt>
    <dgm:pt modelId="{A4AEE379-86D8-4537-A050-C928853EEADC}" type="pres">
      <dgm:prSet presAssocID="{E5AA69D4-9F84-40B4-AB90-CD0BF87264C3}" presName="bgRect" presStyleLbl="bgShp" presStyleIdx="0" presStyleCnt="3"/>
      <dgm:spPr/>
    </dgm:pt>
    <dgm:pt modelId="{98739DE8-0854-4170-8918-6E52DBE91EEB}" type="pres">
      <dgm:prSet presAssocID="{E5AA69D4-9F84-40B4-AB90-CD0BF87264C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FD464A6-F193-40C2-A366-DFAC516215AC}" type="pres">
      <dgm:prSet presAssocID="{E5AA69D4-9F84-40B4-AB90-CD0BF87264C3}" presName="spaceRect" presStyleCnt="0"/>
      <dgm:spPr/>
    </dgm:pt>
    <dgm:pt modelId="{8EC8639A-5400-4C39-AF27-A03DE0DC3AE0}" type="pres">
      <dgm:prSet presAssocID="{E5AA69D4-9F84-40B4-AB90-CD0BF87264C3}" presName="parTx" presStyleLbl="revTx" presStyleIdx="0" presStyleCnt="3">
        <dgm:presLayoutVars>
          <dgm:chMax val="0"/>
          <dgm:chPref val="0"/>
        </dgm:presLayoutVars>
      </dgm:prSet>
      <dgm:spPr/>
    </dgm:pt>
    <dgm:pt modelId="{07D9FF54-C4EA-4019-B289-3DE3A6F87684}" type="pres">
      <dgm:prSet presAssocID="{55C8FC89-BD0E-4921-B67E-E1D9F756DC1E}" presName="sibTrans" presStyleCnt="0"/>
      <dgm:spPr/>
    </dgm:pt>
    <dgm:pt modelId="{BD12536B-C40F-49CC-A09D-900846F3D52C}" type="pres">
      <dgm:prSet presAssocID="{8137134C-320E-47FB-ADD6-39897F35D04B}" presName="compNode" presStyleCnt="0"/>
      <dgm:spPr/>
    </dgm:pt>
    <dgm:pt modelId="{DBA6F9BF-AB02-4984-AA99-3D970EB9D17C}" type="pres">
      <dgm:prSet presAssocID="{8137134C-320E-47FB-ADD6-39897F35D04B}" presName="bgRect" presStyleLbl="bgShp" presStyleIdx="1" presStyleCnt="3"/>
      <dgm:spPr/>
    </dgm:pt>
    <dgm:pt modelId="{DD3BC5D2-7553-42E2-98BE-BBD7332062CB}" type="pres">
      <dgm:prSet presAssocID="{8137134C-320E-47FB-ADD6-39897F35D04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14437F3-57CF-48F3-8CF8-D679A4DFDE49}" type="pres">
      <dgm:prSet presAssocID="{8137134C-320E-47FB-ADD6-39897F35D04B}" presName="spaceRect" presStyleCnt="0"/>
      <dgm:spPr/>
    </dgm:pt>
    <dgm:pt modelId="{C5E69359-130D-4EB5-8D62-C6F6CA51098C}" type="pres">
      <dgm:prSet presAssocID="{8137134C-320E-47FB-ADD6-39897F35D04B}" presName="parTx" presStyleLbl="revTx" presStyleIdx="1" presStyleCnt="3">
        <dgm:presLayoutVars>
          <dgm:chMax val="0"/>
          <dgm:chPref val="0"/>
        </dgm:presLayoutVars>
      </dgm:prSet>
      <dgm:spPr/>
    </dgm:pt>
    <dgm:pt modelId="{877E6FDF-855D-4C77-8D48-54E2C66496C6}" type="pres">
      <dgm:prSet presAssocID="{FF29BE1D-451E-4F2B-8A61-67478E85C4FA}" presName="sibTrans" presStyleCnt="0"/>
      <dgm:spPr/>
    </dgm:pt>
    <dgm:pt modelId="{8945E49E-92C1-47B4-85AB-E92E8569CEA3}" type="pres">
      <dgm:prSet presAssocID="{83868A4B-21FB-4AE0-868A-003FDCB1B51E}" presName="compNode" presStyleCnt="0"/>
      <dgm:spPr/>
    </dgm:pt>
    <dgm:pt modelId="{7ABF49F2-137D-4543-BEA2-AEFE7F51CAF2}" type="pres">
      <dgm:prSet presAssocID="{83868A4B-21FB-4AE0-868A-003FDCB1B51E}" presName="bgRect" presStyleLbl="bgShp" presStyleIdx="2" presStyleCnt="3"/>
      <dgm:spPr/>
    </dgm:pt>
    <dgm:pt modelId="{F4A83AA8-2872-4ABA-A456-B38ADBA7AB46}" type="pres">
      <dgm:prSet presAssocID="{83868A4B-21FB-4AE0-868A-003FDCB1B51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k"/>
        </a:ext>
      </dgm:extLst>
    </dgm:pt>
    <dgm:pt modelId="{AE78F4B8-6A71-492A-8517-A0B36F9FB062}" type="pres">
      <dgm:prSet presAssocID="{83868A4B-21FB-4AE0-868A-003FDCB1B51E}" presName="spaceRect" presStyleCnt="0"/>
      <dgm:spPr/>
    </dgm:pt>
    <dgm:pt modelId="{E734A487-A3D7-45F7-84BF-DEF5F7F14453}" type="pres">
      <dgm:prSet presAssocID="{83868A4B-21FB-4AE0-868A-003FDCB1B5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589E01-E3E2-4BFE-8272-303D1C18DF5D}" srcId="{859487A7-22B4-476A-9810-F1DE066BDECE}" destId="{8137134C-320E-47FB-ADD6-39897F35D04B}" srcOrd="1" destOrd="0" parTransId="{51BF2265-240C-424E-AAA6-26290C9F0DF7}" sibTransId="{FF29BE1D-451E-4F2B-8A61-67478E85C4FA}"/>
    <dgm:cxn modelId="{154ED229-B226-A24D-A8DA-884CF9C48170}" type="presOf" srcId="{83868A4B-21FB-4AE0-868A-003FDCB1B51E}" destId="{E734A487-A3D7-45F7-84BF-DEF5F7F14453}" srcOrd="0" destOrd="0" presId="urn:microsoft.com/office/officeart/2018/2/layout/IconVerticalSolidList"/>
    <dgm:cxn modelId="{7FFE9D2F-6DE7-4B1C-A44B-FAD41A82B8C0}" srcId="{859487A7-22B4-476A-9810-F1DE066BDECE}" destId="{83868A4B-21FB-4AE0-868A-003FDCB1B51E}" srcOrd="2" destOrd="0" parTransId="{76157F74-7D8F-470A-945E-46BA1C842D84}" sibTransId="{0754EB5E-534E-4466-88CD-E645E80196C2}"/>
    <dgm:cxn modelId="{5015F27D-64B2-48E1-8D8A-A67762FAFE02}" srcId="{859487A7-22B4-476A-9810-F1DE066BDECE}" destId="{E5AA69D4-9F84-40B4-AB90-CD0BF87264C3}" srcOrd="0" destOrd="0" parTransId="{3C5B48BC-4FD7-4666-A640-5D0E11D71459}" sibTransId="{55C8FC89-BD0E-4921-B67E-E1D9F756DC1E}"/>
    <dgm:cxn modelId="{7B9294C8-B5FB-A445-B3A6-DEABC441442F}" type="presOf" srcId="{8137134C-320E-47FB-ADD6-39897F35D04B}" destId="{C5E69359-130D-4EB5-8D62-C6F6CA51098C}" srcOrd="0" destOrd="0" presId="urn:microsoft.com/office/officeart/2018/2/layout/IconVerticalSolidList"/>
    <dgm:cxn modelId="{0CB9EAE8-21AA-564F-BCFF-484C8ABA7DCB}" type="presOf" srcId="{E5AA69D4-9F84-40B4-AB90-CD0BF87264C3}" destId="{8EC8639A-5400-4C39-AF27-A03DE0DC3AE0}" srcOrd="0" destOrd="0" presId="urn:microsoft.com/office/officeart/2018/2/layout/IconVerticalSolidList"/>
    <dgm:cxn modelId="{D6B483EE-2EAD-9F4E-8FB2-10B4C21F43BD}" type="presOf" srcId="{859487A7-22B4-476A-9810-F1DE066BDECE}" destId="{A41117E1-2337-4B30-80FD-8BABB397BD9F}" srcOrd="0" destOrd="0" presId="urn:microsoft.com/office/officeart/2018/2/layout/IconVerticalSolidList"/>
    <dgm:cxn modelId="{B1853EF3-1A3E-564D-B183-74BF3C464FE9}" type="presParOf" srcId="{A41117E1-2337-4B30-80FD-8BABB397BD9F}" destId="{DC2006F2-18C6-4A8D-87C3-30C8D94D4208}" srcOrd="0" destOrd="0" presId="urn:microsoft.com/office/officeart/2018/2/layout/IconVerticalSolidList"/>
    <dgm:cxn modelId="{F1C9A27E-6B63-BA46-A80A-E43F18BB7F26}" type="presParOf" srcId="{DC2006F2-18C6-4A8D-87C3-30C8D94D4208}" destId="{A4AEE379-86D8-4537-A050-C928853EEADC}" srcOrd="0" destOrd="0" presId="urn:microsoft.com/office/officeart/2018/2/layout/IconVerticalSolidList"/>
    <dgm:cxn modelId="{55D89F2C-A55C-C44B-A800-CC3BCF875587}" type="presParOf" srcId="{DC2006F2-18C6-4A8D-87C3-30C8D94D4208}" destId="{98739DE8-0854-4170-8918-6E52DBE91EEB}" srcOrd="1" destOrd="0" presId="urn:microsoft.com/office/officeart/2018/2/layout/IconVerticalSolidList"/>
    <dgm:cxn modelId="{19688C8C-817C-024F-B8E7-D92FEBD0AEB9}" type="presParOf" srcId="{DC2006F2-18C6-4A8D-87C3-30C8D94D4208}" destId="{CFD464A6-F193-40C2-A366-DFAC516215AC}" srcOrd="2" destOrd="0" presId="urn:microsoft.com/office/officeart/2018/2/layout/IconVerticalSolidList"/>
    <dgm:cxn modelId="{AE5779F4-71BB-C640-AB68-BACD049A5AC7}" type="presParOf" srcId="{DC2006F2-18C6-4A8D-87C3-30C8D94D4208}" destId="{8EC8639A-5400-4C39-AF27-A03DE0DC3AE0}" srcOrd="3" destOrd="0" presId="urn:microsoft.com/office/officeart/2018/2/layout/IconVerticalSolidList"/>
    <dgm:cxn modelId="{BA0C29C7-C62E-8349-9A72-A9B4649F268F}" type="presParOf" srcId="{A41117E1-2337-4B30-80FD-8BABB397BD9F}" destId="{07D9FF54-C4EA-4019-B289-3DE3A6F87684}" srcOrd="1" destOrd="0" presId="urn:microsoft.com/office/officeart/2018/2/layout/IconVerticalSolidList"/>
    <dgm:cxn modelId="{6347C0CB-ADBD-7548-BFA0-A9B63EE02A1B}" type="presParOf" srcId="{A41117E1-2337-4B30-80FD-8BABB397BD9F}" destId="{BD12536B-C40F-49CC-A09D-900846F3D52C}" srcOrd="2" destOrd="0" presId="urn:microsoft.com/office/officeart/2018/2/layout/IconVerticalSolidList"/>
    <dgm:cxn modelId="{3F3F931C-9904-2F4E-AF7B-8EE9BAEC8E50}" type="presParOf" srcId="{BD12536B-C40F-49CC-A09D-900846F3D52C}" destId="{DBA6F9BF-AB02-4984-AA99-3D970EB9D17C}" srcOrd="0" destOrd="0" presId="urn:microsoft.com/office/officeart/2018/2/layout/IconVerticalSolidList"/>
    <dgm:cxn modelId="{F0C7AA58-BD84-6D4B-BFB6-2E2880A9FD37}" type="presParOf" srcId="{BD12536B-C40F-49CC-A09D-900846F3D52C}" destId="{DD3BC5D2-7553-42E2-98BE-BBD7332062CB}" srcOrd="1" destOrd="0" presId="urn:microsoft.com/office/officeart/2018/2/layout/IconVerticalSolidList"/>
    <dgm:cxn modelId="{A97C2DD1-CF59-8E46-8B35-C805B3E80B4D}" type="presParOf" srcId="{BD12536B-C40F-49CC-A09D-900846F3D52C}" destId="{C14437F3-57CF-48F3-8CF8-D679A4DFDE49}" srcOrd="2" destOrd="0" presId="urn:microsoft.com/office/officeart/2018/2/layout/IconVerticalSolidList"/>
    <dgm:cxn modelId="{2414AEBB-3999-E949-ABAA-372FEA14DD8F}" type="presParOf" srcId="{BD12536B-C40F-49CC-A09D-900846F3D52C}" destId="{C5E69359-130D-4EB5-8D62-C6F6CA51098C}" srcOrd="3" destOrd="0" presId="urn:microsoft.com/office/officeart/2018/2/layout/IconVerticalSolidList"/>
    <dgm:cxn modelId="{DE747EB7-3AFF-ED42-BC54-2D28ACBF872E}" type="presParOf" srcId="{A41117E1-2337-4B30-80FD-8BABB397BD9F}" destId="{877E6FDF-855D-4C77-8D48-54E2C66496C6}" srcOrd="3" destOrd="0" presId="urn:microsoft.com/office/officeart/2018/2/layout/IconVerticalSolidList"/>
    <dgm:cxn modelId="{3EE350E5-6425-8741-8D4E-023E826E4C89}" type="presParOf" srcId="{A41117E1-2337-4B30-80FD-8BABB397BD9F}" destId="{8945E49E-92C1-47B4-85AB-E92E8569CEA3}" srcOrd="4" destOrd="0" presId="urn:microsoft.com/office/officeart/2018/2/layout/IconVerticalSolidList"/>
    <dgm:cxn modelId="{33B7119C-398A-534B-88C2-21FECB2E7BD9}" type="presParOf" srcId="{8945E49E-92C1-47B4-85AB-E92E8569CEA3}" destId="{7ABF49F2-137D-4543-BEA2-AEFE7F51CAF2}" srcOrd="0" destOrd="0" presId="urn:microsoft.com/office/officeart/2018/2/layout/IconVerticalSolidList"/>
    <dgm:cxn modelId="{CDB64CB4-DE32-374E-AD74-096FB800D488}" type="presParOf" srcId="{8945E49E-92C1-47B4-85AB-E92E8569CEA3}" destId="{F4A83AA8-2872-4ABA-A456-B38ADBA7AB46}" srcOrd="1" destOrd="0" presId="urn:microsoft.com/office/officeart/2018/2/layout/IconVerticalSolidList"/>
    <dgm:cxn modelId="{04CD81B0-03DA-034D-BAE3-7DB1D833334F}" type="presParOf" srcId="{8945E49E-92C1-47B4-85AB-E92E8569CEA3}" destId="{AE78F4B8-6A71-492A-8517-A0B36F9FB062}" srcOrd="2" destOrd="0" presId="urn:microsoft.com/office/officeart/2018/2/layout/IconVerticalSolidList"/>
    <dgm:cxn modelId="{94D6C05B-F1DE-AE42-9614-6C2DB95419EB}" type="presParOf" srcId="{8945E49E-92C1-47B4-85AB-E92E8569CEA3}" destId="{E734A487-A3D7-45F7-84BF-DEF5F7F144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9A2B22-356C-4C2D-8E78-5A740BAFA1A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BE9416-D2FF-43FC-BCF0-56F61BE6BA8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Phase 1: Retrospective Validation (Months 1-2):</a:t>
          </a:r>
          <a:r>
            <a:rPr lang="en-IN" dirty="0"/>
            <a:t> Run anonymized historical ED patient data through the Safety Agent. Compare the deterministic AI's triage scoring against the historical human decisions to validate safety and under-triage avoidance.</a:t>
          </a:r>
          <a:endParaRPr lang="en-US" dirty="0"/>
        </a:p>
      </dgm:t>
    </dgm:pt>
    <dgm:pt modelId="{2F780D35-E74B-4CFB-973E-EEF4F1C64A22}" type="parTrans" cxnId="{C84214CE-104F-4FD4-ACC7-53E272ECE7C3}">
      <dgm:prSet/>
      <dgm:spPr/>
      <dgm:t>
        <a:bodyPr/>
        <a:lstStyle/>
        <a:p>
          <a:endParaRPr lang="en-US"/>
        </a:p>
      </dgm:t>
    </dgm:pt>
    <dgm:pt modelId="{9AA7CE70-E3DF-4BAB-B206-4C9F92A0BE00}" type="sibTrans" cxnId="{C84214CE-104F-4FD4-ACC7-53E272ECE7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392E88-3BEB-4F8B-B6E9-7B620B806B6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Phase 2: Shadow Deployment &amp; Pilot (Months 3-5):</a:t>
          </a:r>
          <a:r>
            <a:rPr lang="en-IN"/>
            <a:t> Deploy the dashboard in a high-volume, localized setting (such as piloting at the IIT Delhi campus hospital or a partner NCR medical facility). The system runs in "shadow mode" alongside triage nurses to gather real-world usability feedback without driving final clinical decisions.</a:t>
          </a:r>
          <a:endParaRPr lang="en-US"/>
        </a:p>
      </dgm:t>
    </dgm:pt>
    <dgm:pt modelId="{E1873E68-A88A-4305-8077-6DD24A755C45}" type="parTrans" cxnId="{F34B1120-18A8-4AA1-BA6A-7A34ECBA3C92}">
      <dgm:prSet/>
      <dgm:spPr/>
      <dgm:t>
        <a:bodyPr/>
        <a:lstStyle/>
        <a:p>
          <a:endParaRPr lang="en-US"/>
        </a:p>
      </dgm:t>
    </dgm:pt>
    <dgm:pt modelId="{8B1B09F7-BBE3-403A-90ED-ECD23EB6FC1F}" type="sibTrans" cxnId="{F34B1120-18A8-4AA1-BA6A-7A34ECBA3C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32511D-C461-4B22-9709-06AE96D1B6F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Phase 3: EHR Integration (Months 6-8):</a:t>
          </a:r>
          <a:r>
            <a:rPr lang="en-IN" dirty="0"/>
            <a:t> Build secure, bi-directional API pipelines with major Electronic Health Record (EHR) providers (Epic, Cerner) to automate the MRN lookup process and pull historical medical records instantly.</a:t>
          </a:r>
          <a:endParaRPr lang="en-US" dirty="0"/>
        </a:p>
      </dgm:t>
    </dgm:pt>
    <dgm:pt modelId="{2255992B-13BF-4731-AB5C-B1A4BFE49693}" type="parTrans" cxnId="{82CBE2B8-55F0-41C7-86B9-21507D3A1B20}">
      <dgm:prSet/>
      <dgm:spPr/>
      <dgm:t>
        <a:bodyPr/>
        <a:lstStyle/>
        <a:p>
          <a:endParaRPr lang="en-US"/>
        </a:p>
      </dgm:t>
    </dgm:pt>
    <dgm:pt modelId="{5268BB79-9A9C-4F71-AD0B-1BD012B301A4}" type="sibTrans" cxnId="{82CBE2B8-55F0-41C7-86B9-21507D3A1B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E0B3B7-BB55-4275-91C2-21327B2D2E9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Phase 4: Live Rollout &amp; Multi-Hospital Scaling (Months 9+):</a:t>
          </a:r>
          <a:r>
            <a:rPr lang="en-IN"/>
            <a:t> Full deployment with active Flow Agent resource scheduling. The deterministic rules-engine allows the system to scale easily across hospitals of varying sizes and specialty mixes without requiring expensive localized ML retraining.</a:t>
          </a:r>
          <a:endParaRPr lang="en-US"/>
        </a:p>
      </dgm:t>
    </dgm:pt>
    <dgm:pt modelId="{13556E21-F4E3-41B4-9A02-20145C20143A}" type="parTrans" cxnId="{29C21107-776D-4BC1-A1B0-82208001A16C}">
      <dgm:prSet/>
      <dgm:spPr/>
      <dgm:t>
        <a:bodyPr/>
        <a:lstStyle/>
        <a:p>
          <a:endParaRPr lang="en-US"/>
        </a:p>
      </dgm:t>
    </dgm:pt>
    <dgm:pt modelId="{F6D3186A-72A8-43C5-AF2C-6EA480B539DE}" type="sibTrans" cxnId="{29C21107-776D-4BC1-A1B0-82208001A16C}">
      <dgm:prSet/>
      <dgm:spPr/>
      <dgm:t>
        <a:bodyPr/>
        <a:lstStyle/>
        <a:p>
          <a:endParaRPr lang="en-US"/>
        </a:p>
      </dgm:t>
    </dgm:pt>
    <dgm:pt modelId="{BDF0BC6F-ADB4-41E3-82F9-C054C74CF930}" type="pres">
      <dgm:prSet presAssocID="{BB9A2B22-356C-4C2D-8E78-5A740BAFA1A9}" presName="root" presStyleCnt="0">
        <dgm:presLayoutVars>
          <dgm:dir/>
          <dgm:resizeHandles val="exact"/>
        </dgm:presLayoutVars>
      </dgm:prSet>
      <dgm:spPr/>
    </dgm:pt>
    <dgm:pt modelId="{0536556E-935B-416C-9B68-25F40C920FDC}" type="pres">
      <dgm:prSet presAssocID="{BB9A2B22-356C-4C2D-8E78-5A740BAFA1A9}" presName="container" presStyleCnt="0">
        <dgm:presLayoutVars>
          <dgm:dir/>
          <dgm:resizeHandles val="exact"/>
        </dgm:presLayoutVars>
      </dgm:prSet>
      <dgm:spPr/>
    </dgm:pt>
    <dgm:pt modelId="{88984596-E3EF-4E73-AAF4-E2F90259C6CC}" type="pres">
      <dgm:prSet presAssocID="{7DBE9416-D2FF-43FC-BCF0-56F61BE6BA86}" presName="compNode" presStyleCnt="0"/>
      <dgm:spPr/>
    </dgm:pt>
    <dgm:pt modelId="{11CCF30B-AA6D-4C4B-B82C-70A5AAB7F6E5}" type="pres">
      <dgm:prSet presAssocID="{7DBE9416-D2FF-43FC-BCF0-56F61BE6BA86}" presName="iconBgRect" presStyleLbl="bgShp" presStyleIdx="0" presStyleCnt="4"/>
      <dgm:spPr/>
    </dgm:pt>
    <dgm:pt modelId="{26BC38DE-B4BB-43D0-B9EB-9AB7261F5590}" type="pres">
      <dgm:prSet presAssocID="{7DBE9416-D2FF-43FC-BCF0-56F61BE6BA8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5E3EAC8-6CF8-48DB-A7F9-3909F9528F4D}" type="pres">
      <dgm:prSet presAssocID="{7DBE9416-D2FF-43FC-BCF0-56F61BE6BA86}" presName="spaceRect" presStyleCnt="0"/>
      <dgm:spPr/>
    </dgm:pt>
    <dgm:pt modelId="{E45F7F06-9CC0-4478-9DFF-126799943F0C}" type="pres">
      <dgm:prSet presAssocID="{7DBE9416-D2FF-43FC-BCF0-56F61BE6BA86}" presName="textRect" presStyleLbl="revTx" presStyleIdx="0" presStyleCnt="4">
        <dgm:presLayoutVars>
          <dgm:chMax val="1"/>
          <dgm:chPref val="1"/>
        </dgm:presLayoutVars>
      </dgm:prSet>
      <dgm:spPr/>
    </dgm:pt>
    <dgm:pt modelId="{10A6BB00-1F52-4478-A501-AA7EC87D4A18}" type="pres">
      <dgm:prSet presAssocID="{9AA7CE70-E3DF-4BAB-B206-4C9F92A0BE00}" presName="sibTrans" presStyleLbl="sibTrans2D1" presStyleIdx="0" presStyleCnt="0"/>
      <dgm:spPr/>
    </dgm:pt>
    <dgm:pt modelId="{6C456C34-94FA-454E-9298-FB5744955FD2}" type="pres">
      <dgm:prSet presAssocID="{C4392E88-3BEB-4F8B-B6E9-7B620B806B66}" presName="compNode" presStyleCnt="0"/>
      <dgm:spPr/>
    </dgm:pt>
    <dgm:pt modelId="{CE545D48-AB09-496C-972C-2F7C2D98AA65}" type="pres">
      <dgm:prSet presAssocID="{C4392E88-3BEB-4F8B-B6E9-7B620B806B66}" presName="iconBgRect" presStyleLbl="bgShp" presStyleIdx="1" presStyleCnt="4"/>
      <dgm:spPr/>
    </dgm:pt>
    <dgm:pt modelId="{695039C2-5DB6-4C2D-9A25-49B328891CC4}" type="pres">
      <dgm:prSet presAssocID="{C4392E88-3BEB-4F8B-B6E9-7B620B806B6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3DD3606-AA8D-44A6-AC16-511254E2E607}" type="pres">
      <dgm:prSet presAssocID="{C4392E88-3BEB-4F8B-B6E9-7B620B806B66}" presName="spaceRect" presStyleCnt="0"/>
      <dgm:spPr/>
    </dgm:pt>
    <dgm:pt modelId="{687D6E9D-6E0E-46D8-969E-CEF4F878FFF1}" type="pres">
      <dgm:prSet presAssocID="{C4392E88-3BEB-4F8B-B6E9-7B620B806B66}" presName="textRect" presStyleLbl="revTx" presStyleIdx="1" presStyleCnt="4">
        <dgm:presLayoutVars>
          <dgm:chMax val="1"/>
          <dgm:chPref val="1"/>
        </dgm:presLayoutVars>
      </dgm:prSet>
      <dgm:spPr/>
    </dgm:pt>
    <dgm:pt modelId="{C7B34C4B-4342-43DA-AA87-C2A59E0032AB}" type="pres">
      <dgm:prSet presAssocID="{8B1B09F7-BBE3-403A-90ED-ECD23EB6FC1F}" presName="sibTrans" presStyleLbl="sibTrans2D1" presStyleIdx="0" presStyleCnt="0"/>
      <dgm:spPr/>
    </dgm:pt>
    <dgm:pt modelId="{9EC52BE3-3D0F-4131-B080-7C6A465E53C0}" type="pres">
      <dgm:prSet presAssocID="{2B32511D-C461-4B22-9709-06AE96D1B6FE}" presName="compNode" presStyleCnt="0"/>
      <dgm:spPr/>
    </dgm:pt>
    <dgm:pt modelId="{0CBE63D8-229E-4F1E-9293-B27C08220C1A}" type="pres">
      <dgm:prSet presAssocID="{2B32511D-C461-4B22-9709-06AE96D1B6FE}" presName="iconBgRect" presStyleLbl="bgShp" presStyleIdx="2" presStyleCnt="4"/>
      <dgm:spPr/>
    </dgm:pt>
    <dgm:pt modelId="{EB3DDDAF-2E50-476B-AC34-696E67016B13}" type="pres">
      <dgm:prSet presAssocID="{2B32511D-C461-4B22-9709-06AE96D1B6F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42195BE-7D11-4C8E-8E3F-4411B9B689C0}" type="pres">
      <dgm:prSet presAssocID="{2B32511D-C461-4B22-9709-06AE96D1B6FE}" presName="spaceRect" presStyleCnt="0"/>
      <dgm:spPr/>
    </dgm:pt>
    <dgm:pt modelId="{930ED800-3646-4F37-9BB6-2B597272AD8E}" type="pres">
      <dgm:prSet presAssocID="{2B32511D-C461-4B22-9709-06AE96D1B6FE}" presName="textRect" presStyleLbl="revTx" presStyleIdx="2" presStyleCnt="4">
        <dgm:presLayoutVars>
          <dgm:chMax val="1"/>
          <dgm:chPref val="1"/>
        </dgm:presLayoutVars>
      </dgm:prSet>
      <dgm:spPr/>
    </dgm:pt>
    <dgm:pt modelId="{8BDB67BD-0623-4362-ADF0-5EA895C13D73}" type="pres">
      <dgm:prSet presAssocID="{5268BB79-9A9C-4F71-AD0B-1BD012B301A4}" presName="sibTrans" presStyleLbl="sibTrans2D1" presStyleIdx="0" presStyleCnt="0"/>
      <dgm:spPr/>
    </dgm:pt>
    <dgm:pt modelId="{A0DF06C5-2A65-4707-AFE0-588806F6F63F}" type="pres">
      <dgm:prSet presAssocID="{5CE0B3B7-BB55-4275-91C2-21327B2D2E91}" presName="compNode" presStyleCnt="0"/>
      <dgm:spPr/>
    </dgm:pt>
    <dgm:pt modelId="{12177028-FD4A-4589-986E-5963498D08A1}" type="pres">
      <dgm:prSet presAssocID="{5CE0B3B7-BB55-4275-91C2-21327B2D2E91}" presName="iconBgRect" presStyleLbl="bgShp" presStyleIdx="3" presStyleCnt="4"/>
      <dgm:spPr/>
    </dgm:pt>
    <dgm:pt modelId="{F98CBB3C-05B6-4E1F-B5E8-BDD6208D2A82}" type="pres">
      <dgm:prSet presAssocID="{5CE0B3B7-BB55-4275-91C2-21327B2D2E9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ADFA02F-3A28-4303-9290-DFBADE3244B7}" type="pres">
      <dgm:prSet presAssocID="{5CE0B3B7-BB55-4275-91C2-21327B2D2E91}" presName="spaceRect" presStyleCnt="0"/>
      <dgm:spPr/>
    </dgm:pt>
    <dgm:pt modelId="{6F54DD52-5C81-4245-9D3B-9A23F19C7B48}" type="pres">
      <dgm:prSet presAssocID="{5CE0B3B7-BB55-4275-91C2-21327B2D2E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C21107-776D-4BC1-A1B0-82208001A16C}" srcId="{BB9A2B22-356C-4C2D-8E78-5A740BAFA1A9}" destId="{5CE0B3B7-BB55-4275-91C2-21327B2D2E91}" srcOrd="3" destOrd="0" parTransId="{13556E21-F4E3-41B4-9A02-20145C20143A}" sibTransId="{F6D3186A-72A8-43C5-AF2C-6EA480B539DE}"/>
    <dgm:cxn modelId="{45F35C0B-DC7F-4DA1-B9FD-CB2640E994CD}" type="presOf" srcId="{2B32511D-C461-4B22-9709-06AE96D1B6FE}" destId="{930ED800-3646-4F37-9BB6-2B597272AD8E}" srcOrd="0" destOrd="0" presId="urn:microsoft.com/office/officeart/2018/2/layout/IconCircleList"/>
    <dgm:cxn modelId="{12A2E913-8B0E-441E-9EB0-D9BE0801DCC3}" type="presOf" srcId="{9AA7CE70-E3DF-4BAB-B206-4C9F92A0BE00}" destId="{10A6BB00-1F52-4478-A501-AA7EC87D4A18}" srcOrd="0" destOrd="0" presId="urn:microsoft.com/office/officeart/2018/2/layout/IconCircleList"/>
    <dgm:cxn modelId="{F34B1120-18A8-4AA1-BA6A-7A34ECBA3C92}" srcId="{BB9A2B22-356C-4C2D-8E78-5A740BAFA1A9}" destId="{C4392E88-3BEB-4F8B-B6E9-7B620B806B66}" srcOrd="1" destOrd="0" parTransId="{E1873E68-A88A-4305-8077-6DD24A755C45}" sibTransId="{8B1B09F7-BBE3-403A-90ED-ECD23EB6FC1F}"/>
    <dgm:cxn modelId="{5B2C2197-42AC-46AB-B668-CE21C8EF64C6}" type="presOf" srcId="{C4392E88-3BEB-4F8B-B6E9-7B620B806B66}" destId="{687D6E9D-6E0E-46D8-969E-CEF4F878FFF1}" srcOrd="0" destOrd="0" presId="urn:microsoft.com/office/officeart/2018/2/layout/IconCircleList"/>
    <dgm:cxn modelId="{B21BECB1-2A74-43DE-ACF0-F99B87638B15}" type="presOf" srcId="{BB9A2B22-356C-4C2D-8E78-5A740BAFA1A9}" destId="{BDF0BC6F-ADB4-41E3-82F9-C054C74CF930}" srcOrd="0" destOrd="0" presId="urn:microsoft.com/office/officeart/2018/2/layout/IconCircleList"/>
    <dgm:cxn modelId="{82CBE2B8-55F0-41C7-86B9-21507D3A1B20}" srcId="{BB9A2B22-356C-4C2D-8E78-5A740BAFA1A9}" destId="{2B32511D-C461-4B22-9709-06AE96D1B6FE}" srcOrd="2" destOrd="0" parTransId="{2255992B-13BF-4731-AB5C-B1A4BFE49693}" sibTransId="{5268BB79-9A9C-4F71-AD0B-1BD012B301A4}"/>
    <dgm:cxn modelId="{507AF5BC-8304-49EB-93CC-AE930E5E3231}" type="presOf" srcId="{7DBE9416-D2FF-43FC-BCF0-56F61BE6BA86}" destId="{E45F7F06-9CC0-4478-9DFF-126799943F0C}" srcOrd="0" destOrd="0" presId="urn:microsoft.com/office/officeart/2018/2/layout/IconCircleList"/>
    <dgm:cxn modelId="{C84214CE-104F-4FD4-ACC7-53E272ECE7C3}" srcId="{BB9A2B22-356C-4C2D-8E78-5A740BAFA1A9}" destId="{7DBE9416-D2FF-43FC-BCF0-56F61BE6BA86}" srcOrd="0" destOrd="0" parTransId="{2F780D35-E74B-4CFB-973E-EEF4F1C64A22}" sibTransId="{9AA7CE70-E3DF-4BAB-B206-4C9F92A0BE00}"/>
    <dgm:cxn modelId="{6AFC8CD8-6DCD-480E-810A-DE596A38A98A}" type="presOf" srcId="{5268BB79-9A9C-4F71-AD0B-1BD012B301A4}" destId="{8BDB67BD-0623-4362-ADF0-5EA895C13D73}" srcOrd="0" destOrd="0" presId="urn:microsoft.com/office/officeart/2018/2/layout/IconCircleList"/>
    <dgm:cxn modelId="{DC4047D9-E7C3-40C8-B549-6742FC263609}" type="presOf" srcId="{5CE0B3B7-BB55-4275-91C2-21327B2D2E91}" destId="{6F54DD52-5C81-4245-9D3B-9A23F19C7B48}" srcOrd="0" destOrd="0" presId="urn:microsoft.com/office/officeart/2018/2/layout/IconCircleList"/>
    <dgm:cxn modelId="{2A411BF7-5282-4C64-8A76-6751FD345DA2}" type="presOf" srcId="{8B1B09F7-BBE3-403A-90ED-ECD23EB6FC1F}" destId="{C7B34C4B-4342-43DA-AA87-C2A59E0032AB}" srcOrd="0" destOrd="0" presId="urn:microsoft.com/office/officeart/2018/2/layout/IconCircleList"/>
    <dgm:cxn modelId="{3E9A0305-43AC-4287-8CA1-DE0C6C08B4F3}" type="presParOf" srcId="{BDF0BC6F-ADB4-41E3-82F9-C054C74CF930}" destId="{0536556E-935B-416C-9B68-25F40C920FDC}" srcOrd="0" destOrd="0" presId="urn:microsoft.com/office/officeart/2018/2/layout/IconCircleList"/>
    <dgm:cxn modelId="{EB2C4F63-BB36-49B7-807B-82DA17069736}" type="presParOf" srcId="{0536556E-935B-416C-9B68-25F40C920FDC}" destId="{88984596-E3EF-4E73-AAF4-E2F90259C6CC}" srcOrd="0" destOrd="0" presId="urn:microsoft.com/office/officeart/2018/2/layout/IconCircleList"/>
    <dgm:cxn modelId="{6EF2E573-B6E3-4F35-BBE9-2312F155C79F}" type="presParOf" srcId="{88984596-E3EF-4E73-AAF4-E2F90259C6CC}" destId="{11CCF30B-AA6D-4C4B-B82C-70A5AAB7F6E5}" srcOrd="0" destOrd="0" presId="urn:microsoft.com/office/officeart/2018/2/layout/IconCircleList"/>
    <dgm:cxn modelId="{DEABBA64-9181-4B83-A274-1F3224C0FFE3}" type="presParOf" srcId="{88984596-E3EF-4E73-AAF4-E2F90259C6CC}" destId="{26BC38DE-B4BB-43D0-B9EB-9AB7261F5590}" srcOrd="1" destOrd="0" presId="urn:microsoft.com/office/officeart/2018/2/layout/IconCircleList"/>
    <dgm:cxn modelId="{4B5A201D-9DFC-4183-ACFD-AF9C2BD8B6FF}" type="presParOf" srcId="{88984596-E3EF-4E73-AAF4-E2F90259C6CC}" destId="{35E3EAC8-6CF8-48DB-A7F9-3909F9528F4D}" srcOrd="2" destOrd="0" presId="urn:microsoft.com/office/officeart/2018/2/layout/IconCircleList"/>
    <dgm:cxn modelId="{FF0C8A1D-FD86-4467-B4D7-2AB154C8BCBA}" type="presParOf" srcId="{88984596-E3EF-4E73-AAF4-E2F90259C6CC}" destId="{E45F7F06-9CC0-4478-9DFF-126799943F0C}" srcOrd="3" destOrd="0" presId="urn:microsoft.com/office/officeart/2018/2/layout/IconCircleList"/>
    <dgm:cxn modelId="{D719DDA9-9F77-4E21-ACF1-A29C368CBFE7}" type="presParOf" srcId="{0536556E-935B-416C-9B68-25F40C920FDC}" destId="{10A6BB00-1F52-4478-A501-AA7EC87D4A18}" srcOrd="1" destOrd="0" presId="urn:microsoft.com/office/officeart/2018/2/layout/IconCircleList"/>
    <dgm:cxn modelId="{A863E3BE-EBCE-43D1-B8AE-930D7593468F}" type="presParOf" srcId="{0536556E-935B-416C-9B68-25F40C920FDC}" destId="{6C456C34-94FA-454E-9298-FB5744955FD2}" srcOrd="2" destOrd="0" presId="urn:microsoft.com/office/officeart/2018/2/layout/IconCircleList"/>
    <dgm:cxn modelId="{72ED90E8-09F2-4A17-A3C3-1CE9A8FCBABE}" type="presParOf" srcId="{6C456C34-94FA-454E-9298-FB5744955FD2}" destId="{CE545D48-AB09-496C-972C-2F7C2D98AA65}" srcOrd="0" destOrd="0" presId="urn:microsoft.com/office/officeart/2018/2/layout/IconCircleList"/>
    <dgm:cxn modelId="{C4E692C5-B2A3-49BA-A4EE-6A9D2007575E}" type="presParOf" srcId="{6C456C34-94FA-454E-9298-FB5744955FD2}" destId="{695039C2-5DB6-4C2D-9A25-49B328891CC4}" srcOrd="1" destOrd="0" presId="urn:microsoft.com/office/officeart/2018/2/layout/IconCircleList"/>
    <dgm:cxn modelId="{7C467C74-E5E5-4A66-A8FB-124A4BAD1439}" type="presParOf" srcId="{6C456C34-94FA-454E-9298-FB5744955FD2}" destId="{33DD3606-AA8D-44A6-AC16-511254E2E607}" srcOrd="2" destOrd="0" presId="urn:microsoft.com/office/officeart/2018/2/layout/IconCircleList"/>
    <dgm:cxn modelId="{8A6BF1E9-CD53-4E08-8B13-728C83FDCB6F}" type="presParOf" srcId="{6C456C34-94FA-454E-9298-FB5744955FD2}" destId="{687D6E9D-6E0E-46D8-969E-CEF4F878FFF1}" srcOrd="3" destOrd="0" presId="urn:microsoft.com/office/officeart/2018/2/layout/IconCircleList"/>
    <dgm:cxn modelId="{E026B01D-40A2-4C49-8F5B-309AEAA8DB17}" type="presParOf" srcId="{0536556E-935B-416C-9B68-25F40C920FDC}" destId="{C7B34C4B-4342-43DA-AA87-C2A59E0032AB}" srcOrd="3" destOrd="0" presId="urn:microsoft.com/office/officeart/2018/2/layout/IconCircleList"/>
    <dgm:cxn modelId="{4FECB3F8-3FC1-4F52-87AB-837C4D893AFE}" type="presParOf" srcId="{0536556E-935B-416C-9B68-25F40C920FDC}" destId="{9EC52BE3-3D0F-4131-B080-7C6A465E53C0}" srcOrd="4" destOrd="0" presId="urn:microsoft.com/office/officeart/2018/2/layout/IconCircleList"/>
    <dgm:cxn modelId="{EDF7E73F-7359-4601-91E6-22969219650B}" type="presParOf" srcId="{9EC52BE3-3D0F-4131-B080-7C6A465E53C0}" destId="{0CBE63D8-229E-4F1E-9293-B27C08220C1A}" srcOrd="0" destOrd="0" presId="urn:microsoft.com/office/officeart/2018/2/layout/IconCircleList"/>
    <dgm:cxn modelId="{895CFDA7-BE67-467F-8AD5-0F22FCCF925D}" type="presParOf" srcId="{9EC52BE3-3D0F-4131-B080-7C6A465E53C0}" destId="{EB3DDDAF-2E50-476B-AC34-696E67016B13}" srcOrd="1" destOrd="0" presId="urn:microsoft.com/office/officeart/2018/2/layout/IconCircleList"/>
    <dgm:cxn modelId="{16F54099-9295-490F-96CB-6497D7E3FCA9}" type="presParOf" srcId="{9EC52BE3-3D0F-4131-B080-7C6A465E53C0}" destId="{542195BE-7D11-4C8E-8E3F-4411B9B689C0}" srcOrd="2" destOrd="0" presId="urn:microsoft.com/office/officeart/2018/2/layout/IconCircleList"/>
    <dgm:cxn modelId="{5F4AB3DD-875A-4A9B-8C5E-F615CD4ECA04}" type="presParOf" srcId="{9EC52BE3-3D0F-4131-B080-7C6A465E53C0}" destId="{930ED800-3646-4F37-9BB6-2B597272AD8E}" srcOrd="3" destOrd="0" presId="urn:microsoft.com/office/officeart/2018/2/layout/IconCircleList"/>
    <dgm:cxn modelId="{DFCDB274-1505-4636-B577-2955BBC607DD}" type="presParOf" srcId="{0536556E-935B-416C-9B68-25F40C920FDC}" destId="{8BDB67BD-0623-4362-ADF0-5EA895C13D73}" srcOrd="5" destOrd="0" presId="urn:microsoft.com/office/officeart/2018/2/layout/IconCircleList"/>
    <dgm:cxn modelId="{718FED5D-9937-49FF-B2CF-95494686B629}" type="presParOf" srcId="{0536556E-935B-416C-9B68-25F40C920FDC}" destId="{A0DF06C5-2A65-4707-AFE0-588806F6F63F}" srcOrd="6" destOrd="0" presId="urn:microsoft.com/office/officeart/2018/2/layout/IconCircleList"/>
    <dgm:cxn modelId="{F0CCF6C0-FD27-4FC8-A94F-8A0D721FD9F7}" type="presParOf" srcId="{A0DF06C5-2A65-4707-AFE0-588806F6F63F}" destId="{12177028-FD4A-4589-986E-5963498D08A1}" srcOrd="0" destOrd="0" presId="urn:microsoft.com/office/officeart/2018/2/layout/IconCircleList"/>
    <dgm:cxn modelId="{DADCAA6F-AC8A-40BD-A233-A0DA07C1D951}" type="presParOf" srcId="{A0DF06C5-2A65-4707-AFE0-588806F6F63F}" destId="{F98CBB3C-05B6-4E1F-B5E8-BDD6208D2A82}" srcOrd="1" destOrd="0" presId="urn:microsoft.com/office/officeart/2018/2/layout/IconCircleList"/>
    <dgm:cxn modelId="{920481C5-CCE6-4854-9D54-E101AAA8CEF7}" type="presParOf" srcId="{A0DF06C5-2A65-4707-AFE0-588806F6F63F}" destId="{AADFA02F-3A28-4303-9290-DFBADE3244B7}" srcOrd="2" destOrd="0" presId="urn:microsoft.com/office/officeart/2018/2/layout/IconCircleList"/>
    <dgm:cxn modelId="{E95C008F-AD95-44B6-9CC1-D03ACF857E5E}" type="presParOf" srcId="{A0DF06C5-2A65-4707-AFE0-588806F6F63F}" destId="{6F54DD52-5C81-4245-9D3B-9A23F19C7B4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EE379-86D8-4537-A050-C928853EEADC}">
      <dsp:nvSpPr>
        <dsp:cNvPr id="0" name=""/>
        <dsp:cNvSpPr/>
      </dsp:nvSpPr>
      <dsp:spPr>
        <a:xfrm>
          <a:off x="0" y="452"/>
          <a:ext cx="10993721" cy="1059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39DE8-0854-4170-8918-6E52DBE91EEB}">
      <dsp:nvSpPr>
        <dsp:cNvPr id="0" name=""/>
        <dsp:cNvSpPr/>
      </dsp:nvSpPr>
      <dsp:spPr>
        <a:xfrm>
          <a:off x="320355" y="238733"/>
          <a:ext cx="582465" cy="58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8639A-5400-4C39-AF27-A03DE0DC3AE0}">
      <dsp:nvSpPr>
        <dsp:cNvPr id="0" name=""/>
        <dsp:cNvSpPr/>
      </dsp:nvSpPr>
      <dsp:spPr>
        <a:xfrm>
          <a:off x="1223176" y="452"/>
          <a:ext cx="9770544" cy="105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0" tIns="112080" rIns="112080" bIns="1120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Increased ED Throughput:</a:t>
          </a:r>
          <a:r>
            <a:rPr lang="en-IN" sz="1400" kern="1200" dirty="0"/>
            <a:t> By moving away from a single priority queue and parallelizing diagnostic workflows, hospitals can decrease the average Length of Stay (LOS) in the ED, allowing them to treat a higher daily volume of patients. </a:t>
          </a:r>
          <a:endParaRPr lang="en-US" sz="1400" kern="1200" dirty="0"/>
        </a:p>
      </dsp:txBody>
      <dsp:txXfrm>
        <a:off x="1223176" y="452"/>
        <a:ext cx="9770544" cy="1059027"/>
      </dsp:txXfrm>
    </dsp:sp>
    <dsp:sp modelId="{DBA6F9BF-AB02-4984-AA99-3D970EB9D17C}">
      <dsp:nvSpPr>
        <dsp:cNvPr id="0" name=""/>
        <dsp:cNvSpPr/>
      </dsp:nvSpPr>
      <dsp:spPr>
        <a:xfrm>
          <a:off x="0" y="1324237"/>
          <a:ext cx="10993721" cy="1059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BC5D2-7553-42E2-98BE-BBD7332062CB}">
      <dsp:nvSpPr>
        <dsp:cNvPr id="0" name=""/>
        <dsp:cNvSpPr/>
      </dsp:nvSpPr>
      <dsp:spPr>
        <a:xfrm>
          <a:off x="320355" y="1562518"/>
          <a:ext cx="582465" cy="58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69359-130D-4EB5-8D62-C6F6CA51098C}">
      <dsp:nvSpPr>
        <dsp:cNvPr id="0" name=""/>
        <dsp:cNvSpPr/>
      </dsp:nvSpPr>
      <dsp:spPr>
        <a:xfrm>
          <a:off x="1223176" y="1324237"/>
          <a:ext cx="9770544" cy="105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0" tIns="112080" rIns="112080" bIns="1120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Risk Mitigation &amp; Liability Reduction:</a:t>
          </a:r>
          <a:r>
            <a:rPr lang="en-IN" sz="1400" kern="1200" dirty="0"/>
            <a:t> Missing a critical case carries massive asymmetry in healthcare costs (malpractice suits, intensive care escalation). By mathematically preventing silent de-prioritization and enforcing an immutable audit trail for manual overrides, the hospital significantly reduces its liability footprint. </a:t>
          </a:r>
          <a:endParaRPr lang="en-US" sz="1400" kern="1200" dirty="0"/>
        </a:p>
      </dsp:txBody>
      <dsp:txXfrm>
        <a:off x="1223176" y="1324237"/>
        <a:ext cx="9770544" cy="1059027"/>
      </dsp:txXfrm>
    </dsp:sp>
    <dsp:sp modelId="{7ABF49F2-137D-4543-BEA2-AEFE7F51CAF2}">
      <dsp:nvSpPr>
        <dsp:cNvPr id="0" name=""/>
        <dsp:cNvSpPr/>
      </dsp:nvSpPr>
      <dsp:spPr>
        <a:xfrm>
          <a:off x="0" y="2648021"/>
          <a:ext cx="10993721" cy="1059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83AA8-2872-4ABA-A456-B38ADBA7AB46}">
      <dsp:nvSpPr>
        <dsp:cNvPr id="0" name=""/>
        <dsp:cNvSpPr/>
      </dsp:nvSpPr>
      <dsp:spPr>
        <a:xfrm>
          <a:off x="320355" y="2886302"/>
          <a:ext cx="582465" cy="58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4A487-A3D7-45F7-84BF-DEF5F7F14453}">
      <dsp:nvSpPr>
        <dsp:cNvPr id="0" name=""/>
        <dsp:cNvSpPr/>
      </dsp:nvSpPr>
      <dsp:spPr>
        <a:xfrm>
          <a:off x="1223176" y="2648021"/>
          <a:ext cx="9770544" cy="105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0" tIns="112080" rIns="112080" bIns="1120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Resource Optimization:</a:t>
          </a:r>
          <a:r>
            <a:rPr lang="en-IN" sz="1400" kern="1200" dirty="0"/>
            <a:t> Efficiently routing patients prevents high-acuity beds from being occupied by low-acuity patients awaiting basic lab work.</a:t>
          </a:r>
          <a:endParaRPr lang="en-US" sz="1400" kern="1200" dirty="0"/>
        </a:p>
      </dsp:txBody>
      <dsp:txXfrm>
        <a:off x="1223176" y="2648021"/>
        <a:ext cx="9770544" cy="1059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CF30B-AA6D-4C4B-B82C-70A5AAB7F6E5}">
      <dsp:nvSpPr>
        <dsp:cNvPr id="0" name=""/>
        <dsp:cNvSpPr/>
      </dsp:nvSpPr>
      <dsp:spPr>
        <a:xfrm>
          <a:off x="278971" y="51891"/>
          <a:ext cx="1370307" cy="13703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BC38DE-B4BB-43D0-B9EB-9AB7261F5590}">
      <dsp:nvSpPr>
        <dsp:cNvPr id="0" name=""/>
        <dsp:cNvSpPr/>
      </dsp:nvSpPr>
      <dsp:spPr>
        <a:xfrm>
          <a:off x="566736" y="339655"/>
          <a:ext cx="794778" cy="794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F7F06-9CC0-4478-9DFF-126799943F0C}">
      <dsp:nvSpPr>
        <dsp:cNvPr id="0" name=""/>
        <dsp:cNvSpPr/>
      </dsp:nvSpPr>
      <dsp:spPr>
        <a:xfrm>
          <a:off x="1942916" y="51891"/>
          <a:ext cx="3230011" cy="137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Phase 1: Retrospective Validation (Months 1-2):</a:t>
          </a:r>
          <a:r>
            <a:rPr lang="en-IN" sz="1100" kern="1200" dirty="0"/>
            <a:t> Run anonymized historical ED patient data through the Safety Agent. Compare the deterministic AI's triage scoring against the historical human decisions to validate safety and under-triage avoidance.</a:t>
          </a:r>
          <a:endParaRPr lang="en-US" sz="1100" kern="1200" dirty="0"/>
        </a:p>
      </dsp:txBody>
      <dsp:txXfrm>
        <a:off x="1942916" y="51891"/>
        <a:ext cx="3230011" cy="1370307"/>
      </dsp:txXfrm>
    </dsp:sp>
    <dsp:sp modelId="{CE545D48-AB09-496C-972C-2F7C2D98AA65}">
      <dsp:nvSpPr>
        <dsp:cNvPr id="0" name=""/>
        <dsp:cNvSpPr/>
      </dsp:nvSpPr>
      <dsp:spPr>
        <a:xfrm>
          <a:off x="5735733" y="51891"/>
          <a:ext cx="1370307" cy="13703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039C2-5DB6-4C2D-9A25-49B328891CC4}">
      <dsp:nvSpPr>
        <dsp:cNvPr id="0" name=""/>
        <dsp:cNvSpPr/>
      </dsp:nvSpPr>
      <dsp:spPr>
        <a:xfrm>
          <a:off x="6023497" y="339655"/>
          <a:ext cx="794778" cy="794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D6E9D-6E0E-46D8-969E-CEF4F878FFF1}">
      <dsp:nvSpPr>
        <dsp:cNvPr id="0" name=""/>
        <dsp:cNvSpPr/>
      </dsp:nvSpPr>
      <dsp:spPr>
        <a:xfrm>
          <a:off x="7399678" y="51891"/>
          <a:ext cx="3230011" cy="137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Phase 2: Shadow Deployment &amp; Pilot (Months 3-5):</a:t>
          </a:r>
          <a:r>
            <a:rPr lang="en-IN" sz="1100" kern="1200"/>
            <a:t> Deploy the dashboard in a high-volume, localized setting (such as piloting at the IIT Delhi campus hospital or a partner NCR medical facility). The system runs in "shadow mode" alongside triage nurses to gather real-world usability feedback without driving final clinical decisions.</a:t>
          </a:r>
          <a:endParaRPr lang="en-US" sz="1100" kern="1200"/>
        </a:p>
      </dsp:txBody>
      <dsp:txXfrm>
        <a:off x="7399678" y="51891"/>
        <a:ext cx="3230011" cy="1370307"/>
      </dsp:txXfrm>
    </dsp:sp>
    <dsp:sp modelId="{0CBE63D8-229E-4F1E-9293-B27C08220C1A}">
      <dsp:nvSpPr>
        <dsp:cNvPr id="0" name=""/>
        <dsp:cNvSpPr/>
      </dsp:nvSpPr>
      <dsp:spPr>
        <a:xfrm>
          <a:off x="278971" y="2004786"/>
          <a:ext cx="1370307" cy="13703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DDDAF-2E50-476B-AC34-696E67016B13}">
      <dsp:nvSpPr>
        <dsp:cNvPr id="0" name=""/>
        <dsp:cNvSpPr/>
      </dsp:nvSpPr>
      <dsp:spPr>
        <a:xfrm>
          <a:off x="566736" y="2292551"/>
          <a:ext cx="794778" cy="794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ED800-3646-4F37-9BB6-2B597272AD8E}">
      <dsp:nvSpPr>
        <dsp:cNvPr id="0" name=""/>
        <dsp:cNvSpPr/>
      </dsp:nvSpPr>
      <dsp:spPr>
        <a:xfrm>
          <a:off x="1942916" y="2004786"/>
          <a:ext cx="3230011" cy="137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Phase 3: EHR Integration (Months 6-8):</a:t>
          </a:r>
          <a:r>
            <a:rPr lang="en-IN" sz="1100" kern="1200" dirty="0"/>
            <a:t> Build secure, bi-directional API pipelines with major Electronic Health Record (EHR) providers (Epic, Cerner) to automate the MRN lookup process and pull historical medical records instantly.</a:t>
          </a:r>
          <a:endParaRPr lang="en-US" sz="1100" kern="1200" dirty="0"/>
        </a:p>
      </dsp:txBody>
      <dsp:txXfrm>
        <a:off x="1942916" y="2004786"/>
        <a:ext cx="3230011" cy="1370307"/>
      </dsp:txXfrm>
    </dsp:sp>
    <dsp:sp modelId="{12177028-FD4A-4589-986E-5963498D08A1}">
      <dsp:nvSpPr>
        <dsp:cNvPr id="0" name=""/>
        <dsp:cNvSpPr/>
      </dsp:nvSpPr>
      <dsp:spPr>
        <a:xfrm>
          <a:off x="5735733" y="2004786"/>
          <a:ext cx="1370307" cy="13703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CBB3C-05B6-4E1F-B5E8-BDD6208D2A82}">
      <dsp:nvSpPr>
        <dsp:cNvPr id="0" name=""/>
        <dsp:cNvSpPr/>
      </dsp:nvSpPr>
      <dsp:spPr>
        <a:xfrm>
          <a:off x="6023497" y="2292551"/>
          <a:ext cx="794778" cy="794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4DD52-5C81-4245-9D3B-9A23F19C7B48}">
      <dsp:nvSpPr>
        <dsp:cNvPr id="0" name=""/>
        <dsp:cNvSpPr/>
      </dsp:nvSpPr>
      <dsp:spPr>
        <a:xfrm>
          <a:off x="7399678" y="2004786"/>
          <a:ext cx="3230011" cy="137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Phase 4: Live Rollout &amp; Multi-Hospital Scaling (Months 9+):</a:t>
          </a:r>
          <a:r>
            <a:rPr lang="en-IN" sz="1100" kern="1200"/>
            <a:t> Full deployment with active Flow Agent resource scheduling. The deterministic rules-engine allows the system to scale easily across hospitals of varying sizes and specialty mixes without requiring expensive localized ML retraining.</a:t>
          </a:r>
          <a:endParaRPr lang="en-US" sz="1100" kern="1200"/>
        </a:p>
      </dsp:txBody>
      <dsp:txXfrm>
        <a:off x="7399678" y="2004786"/>
        <a:ext cx="3230011" cy="1370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9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7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2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4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8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5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6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7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76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078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80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20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09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98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9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2C5182E-DAA0-EE47-BDE6-638D1F78BBE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7FAF-6B1C-0148-BA33-F130F5E94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86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A54D3F-E44E-1E8A-B18F-70A44C820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1" y="452717"/>
            <a:ext cx="9420213" cy="1838537"/>
          </a:xfrm>
        </p:spPr>
        <p:txBody>
          <a:bodyPr/>
          <a:lstStyle/>
          <a:p>
            <a:r>
              <a:rPr lang="en-US" dirty="0"/>
              <a:t>Team Details</a:t>
            </a:r>
            <a:br>
              <a:rPr lang="en-US" dirty="0"/>
            </a:br>
            <a:br>
              <a:rPr lang="en-US" dirty="0"/>
            </a:br>
            <a:r>
              <a:rPr lang="en-US" sz="3000" dirty="0"/>
              <a:t>(Team : </a:t>
            </a:r>
            <a:r>
              <a:rPr lang="en-US" sz="3000" b="1" i="1" dirty="0" err="1"/>
              <a:t>Solo_Levlling</a:t>
            </a:r>
            <a:r>
              <a:rPr lang="en-US" sz="3000" dirty="0"/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5B0AFC-97D1-0E33-1B3D-4486ACF7B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865" y="2779249"/>
            <a:ext cx="3053991" cy="3053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8372B2-FA38-855C-3375-671210EE2B7A}"/>
              </a:ext>
            </a:extLst>
          </p:cNvPr>
          <p:cNvSpPr txBox="1"/>
          <p:nvPr/>
        </p:nvSpPr>
        <p:spPr>
          <a:xfrm>
            <a:off x="4614203" y="3073540"/>
            <a:ext cx="508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: Amit Singh Nitharwal (Team Leader)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CC3FD-06DC-8C5C-37DA-F4D88BB5AD47}"/>
              </a:ext>
            </a:extLst>
          </p:cNvPr>
          <p:cNvSpPr txBox="1"/>
          <p:nvPr/>
        </p:nvSpPr>
        <p:spPr>
          <a:xfrm>
            <a:off x="4540631" y="3624993"/>
            <a:ext cx="5686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College : Indian Institute of Technology, Delhi</a:t>
            </a:r>
          </a:p>
          <a:p>
            <a:r>
              <a:rPr lang="en-US" dirty="0"/>
              <a:t>Stream : Computer Science &amp; Engineering</a:t>
            </a:r>
          </a:p>
          <a:p>
            <a:r>
              <a:rPr lang="en-US" dirty="0"/>
              <a:t>Year of Graduation : 2028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9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3A28F-CEB7-7DD8-2CD2-D9AC9C4B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Problem Statement :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		The Triage Bottleneck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50F1C-3F1A-6A1F-841A-624914F0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02" y="2424977"/>
            <a:ext cx="10402977" cy="4263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b="1" i="1" dirty="0"/>
              <a:t>Clinical Reality</a:t>
            </a:r>
            <a:r>
              <a:rPr lang="en-US" b="1" i="1" dirty="0"/>
              <a:t> </a:t>
            </a:r>
            <a:r>
              <a:rPr lang="en-US" b="1" dirty="0"/>
              <a:t>-- </a:t>
            </a:r>
            <a:r>
              <a:rPr lang="en-IN" dirty="0"/>
              <a:t>When emergency departments are overwhelmed, patient sequencing relies heavily on rapid human judgment under extreme pressure. A single triage decision can determine whether a deteriorating patient is seen immediately or left waiting, while simultaneously determining how scarce clinical resources are utilized.</a:t>
            </a:r>
          </a:p>
          <a:p>
            <a:pPr>
              <a:lnSpc>
                <a:spcPct val="90000"/>
              </a:lnSpc>
            </a:pPr>
            <a:r>
              <a:rPr lang="en-IN" b="1" i="1" dirty="0"/>
              <a:t>Main Focus </a:t>
            </a:r>
            <a:r>
              <a:rPr lang="en-IN" b="1" dirty="0"/>
              <a:t>-- </a:t>
            </a:r>
            <a:r>
              <a:rPr lang="en-IN" dirty="0"/>
              <a:t>The triage nurse must answer two fundamentally different questions at once: </a:t>
            </a:r>
            <a:r>
              <a:rPr lang="en-IN" b="1" dirty="0"/>
              <a:t>“Who needs human attention first?”</a:t>
            </a:r>
            <a:r>
              <a:rPr lang="en-IN" dirty="0"/>
              <a:t> and </a:t>
            </a:r>
            <a:r>
              <a:rPr lang="en-IN" b="1" dirty="0"/>
              <a:t>“What can safely happen right now?”. </a:t>
            </a:r>
            <a:r>
              <a:rPr lang="en-IN" dirty="0"/>
              <a:t>Treating the ED as a single priority queue creates unnecessary waiting when diagnostic or preparatory actions could happen in parallel.</a:t>
            </a:r>
          </a:p>
          <a:p>
            <a:pPr>
              <a:lnSpc>
                <a:spcPct val="90000"/>
              </a:lnSpc>
            </a:pPr>
            <a:r>
              <a:rPr lang="en-IN" b="1" i="1" dirty="0"/>
              <a:t>Worst Case </a:t>
            </a:r>
            <a:r>
              <a:rPr lang="en-IN" b="1" dirty="0"/>
              <a:t>-- </a:t>
            </a:r>
            <a:r>
              <a:rPr lang="en-IN" dirty="0"/>
              <a:t>The system should optimized for </a:t>
            </a:r>
            <a:r>
              <a:rPr lang="en-IN" b="1" dirty="0"/>
              <a:t>safe under-triage avoidance</a:t>
            </a:r>
            <a:r>
              <a:rPr lang="en-IN" dirty="0"/>
              <a:t>, not average-case accuracy. When early data is ambiguous, subtle indicators of deterioration trigger escalation rather than silent de-prioritisation. Every recommendation must remain bounded by clinical oversight.</a:t>
            </a:r>
          </a:p>
          <a:p>
            <a:pPr>
              <a:lnSpc>
                <a:spcPct val="90000"/>
              </a:lnSpc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535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4C882-B2CD-C147-1BD0-6103B309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 Design :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			The Intelligent ED Co-Pilot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742C-A425-6E67-DC5F-ACCBBD53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305966"/>
            <a:ext cx="9795060" cy="4466974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i="1"/>
              <a:t>PatientTriage.ai </a:t>
            </a:r>
            <a:r>
              <a:rPr lang="en-IN"/>
              <a:t>is an intelligent co-pilot that separates Clinical Urgency from Operational Flow. Rather than relying on a black-box machine learning model that introduces hallucination risks, the solution utilizes a Hybrid-AI architecture:</a:t>
            </a:r>
          </a:p>
          <a:p>
            <a:pPr>
              <a:lnSpc>
                <a:spcPct val="90000"/>
              </a:lnSpc>
            </a:pPr>
            <a:r>
              <a:rPr lang="en-IN"/>
              <a:t>- </a:t>
            </a:r>
            <a:r>
              <a:rPr lang="en-IN" b="1" i="1"/>
              <a:t>Fuzzy NLP Parsing </a:t>
            </a:r>
            <a:r>
              <a:rPr lang="en-IN"/>
              <a:t>: An LLM normalizes raw, typo-ridden triage notes and shorthand into standardized clinical tokens.</a:t>
            </a:r>
            <a:endParaRPr lang="en-IN" b="1" i="1"/>
          </a:p>
          <a:p>
            <a:pPr>
              <a:lnSpc>
                <a:spcPct val="90000"/>
              </a:lnSpc>
            </a:pPr>
            <a:r>
              <a:rPr lang="en-IN"/>
              <a:t>- </a:t>
            </a:r>
            <a:r>
              <a:rPr lang="en-IN" b="1" i="1"/>
              <a:t>Safety Agent (Clinical Urgency) </a:t>
            </a:r>
            <a:r>
              <a:rPr lang="en-IN"/>
              <a:t>: A deterministic, mathematically explainable expert system processes the first 3-5 minutes of fragmented data (vitals, demographics, medical history) to assess patient risk. It uses age-adjusted thresholds and is explicitly optimized for safe under-triage avoidance—biasing toward escalation when early data is ambiguous.</a:t>
            </a:r>
          </a:p>
          <a:p>
            <a:pPr>
              <a:lnSpc>
                <a:spcPct val="90000"/>
              </a:lnSpc>
            </a:pPr>
            <a:r>
              <a:rPr lang="en-IN"/>
              <a:t>- </a:t>
            </a:r>
            <a:r>
              <a:rPr lang="en-IN" b="1" i="1"/>
              <a:t>Flow Agent (Operational Flow) </a:t>
            </a:r>
            <a:r>
              <a:rPr lang="en-IN"/>
              <a:t>: Simultaneously predicts and schedules what actions can safely occur in parallel, recommending the patient’s likely next resources (e.g., ECG, X-ray, blood tests).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58466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02164-66AF-BC39-35A6-EE7341AF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						Target Users</a:t>
            </a:r>
            <a:endParaRPr lang="en-US" dirty="0">
              <a:solidFill>
                <a:srgbClr val="EBEBEB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1EE2B-CCD9-0A63-6E45-B7F370E9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2381693"/>
            <a:ext cx="7517219" cy="438061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800" dirty="0"/>
              <a:t>The platform is designed for three distinct tiers of ED stakeholders: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IN" sz="1800" b="1" i="1" dirty="0"/>
              <a:t>Primary Users (Triage Nurses) </a:t>
            </a:r>
            <a:r>
              <a:rPr lang="en-IN" sz="1800" dirty="0"/>
              <a:t>: Benefit from reduced cognitive burden. The system acts as a safety net, automatically flagging deteriorating patients and allowing nurses to confidently manage surge queues.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IN" sz="1800" b="1" i="1" dirty="0"/>
              <a:t>Secondary Users (ED Charge Nurses &amp; Attending Physicians) </a:t>
            </a:r>
            <a:r>
              <a:rPr lang="en-IN" sz="1800" dirty="0"/>
              <a:t>:</a:t>
            </a:r>
            <a:r>
              <a:rPr lang="en-US" sz="1800" b="1" i="1" dirty="0"/>
              <a:t> </a:t>
            </a:r>
            <a:r>
              <a:rPr lang="en-IN" sz="1800" dirty="0"/>
              <a:t>Benefit from the Flow Agent’s parallel scheduling, allowing clinical teams to prep beds and order labs before the physician even sees the patient, accelerating time-to-treatment.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IN" sz="1800" b="1" i="1" dirty="0"/>
              <a:t>Tertiary Users (Hospital Administrators &amp; Compliance Officers) </a:t>
            </a:r>
            <a:r>
              <a:rPr lang="en-IN" sz="1800" dirty="0"/>
              <a:t>:</a:t>
            </a:r>
            <a:r>
              <a:rPr lang="en-IN" sz="1800" b="1" i="1" dirty="0"/>
              <a:t> </a:t>
            </a:r>
            <a:r>
              <a:rPr lang="en-IN" sz="1800" dirty="0"/>
              <a:t>Benefit from the strict audit trails. Every clinical override is permanently logged with mandatory justifications, ensuring total HIPAA compliance and legal accountability.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IN" sz="1800" b="1" i="1" dirty="0"/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26C9111F-450A-6737-B43D-9A63AB4C8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0075" y="2479024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42717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D672C0-47FC-1E3F-2B75-CB639066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Business Case and Impact</a:t>
            </a: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36D4D5-CAB9-D6AD-206D-E71DF1D62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6113528"/>
              </p:ext>
            </p:extLst>
          </p:nvPr>
        </p:nvGraphicFramePr>
        <p:xfrm>
          <a:off x="648929" y="2810256"/>
          <a:ext cx="10993721" cy="3707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EC7B59-9E6D-6A5A-B194-EE731D82E046}"/>
              </a:ext>
            </a:extLst>
          </p:cNvPr>
          <p:cNvSpPr txBox="1"/>
          <p:nvPr/>
        </p:nvSpPr>
        <p:spPr>
          <a:xfrm>
            <a:off x="1680564" y="2336172"/>
            <a:ext cx="8537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financial and operational impacts of PatientTriage.ai are significant.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15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49DAD-D148-8871-65E8-8621FB7A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Phased Roadmap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6912A5-28D3-AA85-C641-2F76176CE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505130"/>
              </p:ext>
            </p:extLst>
          </p:nvPr>
        </p:nvGraphicFramePr>
        <p:xfrm>
          <a:off x="648929" y="3226934"/>
          <a:ext cx="10908661" cy="3426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3F243C-F4DC-FE98-56B2-6604EBB1FADD}"/>
              </a:ext>
            </a:extLst>
          </p:cNvPr>
          <p:cNvSpPr txBox="1"/>
          <p:nvPr/>
        </p:nvSpPr>
        <p:spPr>
          <a:xfrm>
            <a:off x="648930" y="2303603"/>
            <a:ext cx="10271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scale from a hackathon prototype to a fully integrated enterprise health platform, I propose the following phased rollout: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0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08CF7-6288-FF5E-2447-698B60B4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Key Risks and Mitigations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FFA608-D519-0130-3605-2E8A23104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962552"/>
              </p:ext>
            </p:extLst>
          </p:nvPr>
        </p:nvGraphicFramePr>
        <p:xfrm>
          <a:off x="223284" y="2402309"/>
          <a:ext cx="11706445" cy="424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589">
                  <a:extLst>
                    <a:ext uri="{9D8B030D-6E8A-4147-A177-3AD203B41FA5}">
                      <a16:colId xmlns:a16="http://schemas.microsoft.com/office/drawing/2014/main" val="3607696295"/>
                    </a:ext>
                  </a:extLst>
                </a:gridCol>
                <a:gridCol w="3266099">
                  <a:extLst>
                    <a:ext uri="{9D8B030D-6E8A-4147-A177-3AD203B41FA5}">
                      <a16:colId xmlns:a16="http://schemas.microsoft.com/office/drawing/2014/main" val="2705643507"/>
                    </a:ext>
                  </a:extLst>
                </a:gridCol>
                <a:gridCol w="4862757">
                  <a:extLst>
                    <a:ext uri="{9D8B030D-6E8A-4147-A177-3AD203B41FA5}">
                      <a16:colId xmlns:a16="http://schemas.microsoft.com/office/drawing/2014/main" val="4191747222"/>
                    </a:ext>
                  </a:extLst>
                </a:gridCol>
              </a:tblGrid>
              <a:tr h="396673">
                <a:tc>
                  <a:txBody>
                    <a:bodyPr/>
                    <a:lstStyle/>
                    <a:p>
                      <a:r>
                        <a:rPr lang="en-IN" sz="1400"/>
                        <a:t>Identified Risk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Impact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Mitigation Strategy</a:t>
                      </a:r>
                      <a:endParaRPr lang="en-US" sz="1400"/>
                    </a:p>
                  </a:txBody>
                  <a:tcPr marL="61514" marR="61514" marT="30757" marB="30757"/>
                </a:tc>
                <a:extLst>
                  <a:ext uri="{0D108BD9-81ED-4DB2-BD59-A6C34878D82A}">
                    <a16:rowId xmlns:a16="http://schemas.microsoft.com/office/drawing/2014/main" val="554044414"/>
                  </a:ext>
                </a:extLst>
              </a:tr>
              <a:tr h="1208047">
                <a:tc>
                  <a:txBody>
                    <a:bodyPr/>
                    <a:lstStyle/>
                    <a:p>
                      <a:r>
                        <a:rPr lang="en-IN" sz="1400"/>
                        <a:t>"Black-Box" AI Hallucinations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High (Patient Safety)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Hybrid Architecture:</a:t>
                      </a:r>
                      <a:r>
                        <a:rPr lang="en-IN" sz="1400" dirty="0"/>
                        <a:t> The LLM is restricted exclusively to text normalization. All clinical risk stratification is strictly handled by a deterministic, transparent rules engine bounded by clinical oversight.</a:t>
                      </a:r>
                      <a:endParaRPr lang="en-US" sz="1400" dirty="0"/>
                    </a:p>
                  </a:txBody>
                  <a:tcPr marL="61514" marR="61514" marT="30757" marB="30757"/>
                </a:tc>
                <a:extLst>
                  <a:ext uri="{0D108BD9-81ED-4DB2-BD59-A6C34878D82A}">
                    <a16:rowId xmlns:a16="http://schemas.microsoft.com/office/drawing/2014/main" val="2260076394"/>
                  </a:ext>
                </a:extLst>
              </a:tr>
              <a:tr h="1208047">
                <a:tc>
                  <a:txBody>
                    <a:bodyPr/>
                    <a:lstStyle/>
                    <a:p>
                      <a:r>
                        <a:rPr lang="en-IN" sz="1400"/>
                        <a:t>Clinician Resistance &amp; Mistrust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 (Adoption)</a:t>
                      </a:r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Human-in-the-Loop Design:</a:t>
                      </a:r>
                      <a:r>
                        <a:rPr lang="en-IN" sz="1400"/>
                        <a:t> The tool is positioned as a "co-pilot," not a replacement. The UI includes a prominent "Override" mechanism, empowering fatigued nurses to exercise and enforce their clinical judgment at any time.</a:t>
                      </a:r>
                      <a:endParaRPr lang="en-US" sz="1400"/>
                    </a:p>
                  </a:txBody>
                  <a:tcPr marL="61514" marR="61514" marT="30757" marB="30757"/>
                </a:tc>
                <a:extLst>
                  <a:ext uri="{0D108BD9-81ED-4DB2-BD59-A6C34878D82A}">
                    <a16:rowId xmlns:a16="http://schemas.microsoft.com/office/drawing/2014/main" val="2199579921"/>
                  </a:ext>
                </a:extLst>
              </a:tr>
              <a:tr h="1430273">
                <a:tc>
                  <a:txBody>
                    <a:bodyPr/>
                    <a:lstStyle/>
                    <a:p>
                      <a:r>
                        <a:rPr lang="en-IN" sz="1400"/>
                        <a:t>Data Privacy &amp; Compliance Breaches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Severe (Legal/Financial)</a:t>
                      </a:r>
                      <a:endParaRPr lang="en-US" sz="1400"/>
                    </a:p>
                  </a:txBody>
                  <a:tcPr marL="61514" marR="61514" marT="30757" marB="30757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Immutable Audit Trails:</a:t>
                      </a:r>
                      <a:r>
                        <a:rPr lang="en-IN" sz="1400" dirty="0"/>
                        <a:t> Built on a robust PostgreSQL/Prisma relational architecture. The system utilizes atomic transactions to ensure no AI score can be manually altered without securely logging the clinician ID, role, and text justification.</a:t>
                      </a:r>
                      <a:endParaRPr lang="en-US" sz="1400" dirty="0"/>
                    </a:p>
                  </a:txBody>
                  <a:tcPr marL="61514" marR="61514" marT="30757" marB="30757"/>
                </a:tc>
                <a:extLst>
                  <a:ext uri="{0D108BD9-81ED-4DB2-BD59-A6C34878D82A}">
                    <a16:rowId xmlns:a16="http://schemas.microsoft.com/office/drawing/2014/main" val="210504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90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964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Team Details  (Team : Solo_Levlling)</vt:lpstr>
      <vt:lpstr>Problem Statement :   The Triage Bottleneck</vt:lpstr>
      <vt:lpstr>Solution Design :    The Intelligent ED Co-Pilot</vt:lpstr>
      <vt:lpstr>      Target Users</vt:lpstr>
      <vt:lpstr>Business Case and Impact</vt:lpstr>
      <vt:lpstr>Phased Roadmap</vt:lpstr>
      <vt:lpstr>Key Risks and Mitigations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Singh Nitharwal</dc:creator>
  <cp:lastModifiedBy>Amit Singh Nitharwal</cp:lastModifiedBy>
  <cp:revision>3</cp:revision>
  <dcterms:created xsi:type="dcterms:W3CDTF">2026-08-16T17:51:20Z</dcterms:created>
  <dcterms:modified xsi:type="dcterms:W3CDTF">2026-08-30T13:19:30Z</dcterms:modified>
</cp:coreProperties>
</file>